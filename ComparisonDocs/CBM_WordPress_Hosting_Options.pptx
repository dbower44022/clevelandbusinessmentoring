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kinsta.com/wordpress-hosting/nonprofits/" TargetMode="External"/><Relationship Id="rId2" Type="http://schemas.openxmlformats.org/officeDocument/2006/relationships/hyperlink" Target="https://kinsta.com/pricing/" TargetMode="External"/><Relationship Id="rId3" Type="http://schemas.openxmlformats.org/officeDocument/2006/relationships/hyperlink" Target="https://wpengine.com/plans/" TargetMode="External"/><Relationship Id="rId4" Type="http://schemas.openxmlformats.org/officeDocument/2006/relationships/hyperlink" Target="https://help.dreamhost.com/hc/en-us/articles/215769478-Non-profit-discount" TargetMode="External"/><Relationship Id="rId5" Type="http://schemas.openxmlformats.org/officeDocument/2006/relationships/hyperlink" Target="https://www.siteground.com/wordpress-hosting.htm" TargetMode="External"/><Relationship Id="rId6" Type="http://schemas.openxmlformats.org/officeDocument/2006/relationships/hyperlink" Target="https://www.reddit.com/r/webhosting/comments/1ntktzx/thinking_about_moving_to_kinsta_whats_the/" TargetMode="External"/><Relationship Id="rId7" Type="http://schemas.openxmlformats.org/officeDocument/2006/relationships/hyperlink" Target="https://nonprofitwp.org/resources/free-stuff-for-nonprofit-wordpress-websites/" TargetMode="External"/><Relationship Id="rId8" Type="http://schemas.openxmlformats.org/officeDocument/2006/relationships/hyperlink" Target="https://developer.wordpress.com/wordpress-com-claude-code-plugin/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73152"/>
            <a:ext cx="2560320" cy="5070348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630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1440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WordPress Hosting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CBM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0080" y="2926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99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Infrastructure Decision Brief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Cleveland Business Mentors  | 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Our Website Needs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64008" cy="146304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Informational Site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public presence for CBM’s mission, programs, and team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64008" cy="146304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Forms → CRM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57784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forms for mentors and mentees that feed directly into our CRM system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292608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926080"/>
            <a:ext cx="64008" cy="146304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004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LMS Integration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3566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Moodle for mentor training course content and completion tracking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92608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926080"/>
            <a:ext cx="64008" cy="146304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004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Workspace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577840" y="3566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existing Google Workspace for Nonprofits email infrastructure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itself is straightforward — the critical factor is reliable, secure hosting that supports our integrations.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 Integration Context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website forms will need to integrate with whichever CRM platform we select. The hosting choice is CRM-agnostic — all options below work with WordPress via REST API or native plugins.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64008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64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EspoCRM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self-hosted, highly customizable. REST API connects via webhooks or custom handlers. No per-seat licensing cost.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377440"/>
            <a:ext cx="64008" cy="548640"/>
          </a:xfrm>
          <a:prstGeom prst="rect">
            <a:avLst/>
          </a:prstGeom>
          <a:solidFill>
            <a:srgbClr val="FF7A5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50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HubSpot CRM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with a free tier. Native WordPress plugin available. Per-seat costs increase significantly at paid tiers.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063240"/>
            <a:ext cx="64008" cy="548640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Salesforce NPSP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for nonprofits via Salesforce.org. 10 free licenses for 501(c)(3)s. WordPress plugins available.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749040"/>
            <a:ext cx="64008" cy="548640"/>
          </a:xfrm>
          <a:prstGeom prst="rect">
            <a:avLst/>
          </a:prstGeom>
          <a:solidFill>
            <a:srgbClr val="81C459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822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CiviCRM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CRM designed for nonprofits. Can run as a WordPress plugin or standalone. Strong event/membership features.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The WordPress hosting decision is independent of the CRM decision. Any host we choose supports all CRM options above.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vs. Managed Hosting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two hosting models helps explain why our recommendation costs more — and why it’s worth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374904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Hosting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shares a server with hundreds of other websites. You’re responsible for WordPress updates, security, backups, and performance.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889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27706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($0–10/month)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0896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3090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security &amp; updates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2900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4107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resources — neighbor traffic affects you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4904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730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support, not WP-specific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69080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4050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staging environments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754880" y="150876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4754880" y="1508760"/>
            <a:ext cx="374904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4"/>
          <p:cNvSpPr/>
          <p:nvPr/>
        </p:nvSpPr>
        <p:spPr>
          <a:xfrm>
            <a:off x="475488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WordPress Hosting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5029200" y="2057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handles WordPress operations: automatic updates, security, backups, caching, and expert WP support.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788920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349240" y="27706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 ($25–50/month)</a:t>
            </a:r>
            <a:endParaRPr lang="en-US" sz="11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108960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349240" y="3090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updates &amp; backups handled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429000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349240" y="34107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resources — consistent speed</a:t>
            </a:r>
            <a:endParaRPr lang="en-US" sz="11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749040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349240" y="3730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expert support 24/7</a:t>
            </a:r>
            <a:endParaRPr lang="en-US" sz="11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4069080"/>
            <a:ext cx="201168" cy="20116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349240" y="4050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environments for safe testing</a:t>
            </a:r>
            <a:endParaRPr lang="en-US" sz="1100" dirty="0"/>
          </a:p>
        </p:txBody>
      </p:sp>
      <p:sp>
        <p:nvSpPr>
          <p:cNvPr id="33" name="Text 21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CBM, managed hosting means no volunteer needs to become a server administrator. Security, performance, and backups are someone else’s job.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Security: Shared vs. Managed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the most significant operational difference between shared and managed hosting — and the highest-risk area for a nonprofit handling intake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374904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Hosting Security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039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install &amp; configure security plugins (e.g. Wordfence, Sucuri)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5059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4323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&amp; schedule your own backups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43784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825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server — one compromised neighbor can expose your site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3697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218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 setup is manual on most plans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630168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scanning is your responsibility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02336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34440" y="4005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hacked, recovery is DIY or paid incident response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4754880" y="146304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754880" y="1463040"/>
            <a:ext cx="374904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14"/>
          <p:cNvSpPr/>
          <p:nvPr/>
        </p:nvSpPr>
        <p:spPr>
          <a:xfrm>
            <a:off x="4754880" y="1463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Hosting Security</a:t>
            </a:r>
            <a:endParaRPr lang="en-US" sz="16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057400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349240" y="2039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firewall &amp; DDoS protection built in (e.g. Cloudflare)</a:t>
            </a:r>
            <a:endParaRPr lang="en-US" sz="10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450592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49240" y="24323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daily backups with one-click restore</a:t>
            </a:r>
            <a:endParaRPr lang="en-US" sz="10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2843784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349240" y="2825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container architecture — no noisy neighbor risk</a:t>
            </a:r>
            <a:endParaRPr lang="en-US" sz="10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3236976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349240" y="3218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SSL certificates, auto-installed and auto-renewed</a:t>
            </a:r>
            <a:endParaRPr lang="en-US" sz="10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3630168"/>
            <a:ext cx="201168" cy="201168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34924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malware scanning &amp; threat monitoring</a:t>
            </a:r>
            <a:endParaRPr lang="en-US" sz="10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4023360"/>
            <a:ext cx="201168" cy="20116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349240" y="4005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Hack-fix guarantee — provider remediates at no extra cost</a:t>
            </a:r>
            <a:endParaRPr lang="en-US" sz="1050" dirty="0"/>
          </a:p>
        </p:txBody>
      </p:sp>
      <p:sp>
        <p:nvSpPr>
          <p:cNvPr id="35" name="Text 21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CBM’s website will collect personal data via intake forms. A security breach isn’t just an inconvenience — it’s a trust and liability issue for the organization.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&amp; Budget Options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0" y="384048"/>
            <a:ext cx="22860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0" y="384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RECOMMENDED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DreamHost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501(c)(3) nonprofits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 shared hosting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313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email &amp; free SSL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176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633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discount for nonprofits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6324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044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hosting — limited performance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83280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33649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managed WordPress features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703320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3685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your responsibility</a:t>
            </a:r>
            <a:endParaRPr lang="en-US" sz="11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023360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234440" y="4005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support for integrations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4754880" y="109728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15"/>
          <p:cNvSpPr/>
          <p:nvPr/>
        </p:nvSpPr>
        <p:spPr>
          <a:xfrm>
            <a:off x="50292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WordPress.com</a:t>
            </a:r>
            <a:endParaRPr lang="en-US" sz="2000" dirty="0"/>
          </a:p>
        </p:txBody>
      </p:sp>
      <p:sp>
        <p:nvSpPr>
          <p:cNvPr id="25" name="Text 16"/>
          <p:cNvSpPr/>
          <p:nvPr/>
        </p:nvSpPr>
        <p:spPr>
          <a:xfrm>
            <a:off x="502920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platform by Automattic</a:t>
            </a:r>
            <a:endParaRPr lang="en-US" sz="13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011680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49240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server management</a:t>
            </a:r>
            <a:endParaRPr lang="en-US" sz="11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2331720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349240" y="2313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updates &amp; backups</a:t>
            </a:r>
            <a:endParaRPr lang="en-US" sz="11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2743200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349240" y="2724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restrictions on lower tiers</a:t>
            </a:r>
            <a:endParaRPr lang="en-US" sz="11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3063240"/>
            <a:ext cx="201168" cy="201168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349240" y="3044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CRM integration options</a:t>
            </a:r>
            <a:endParaRPr lang="en-US" sz="110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3383280"/>
            <a:ext cx="201168" cy="201168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5349240" y="33649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webhook handlers</a:t>
            </a:r>
            <a:endParaRPr lang="en-US" sz="1100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0" y="3703320"/>
            <a:ext cx="201168" cy="201168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5349240" y="3685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 integration constrained</a:t>
            </a:r>
            <a:endParaRPr lang="en-US" sz="1100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9200" y="4023360"/>
            <a:ext cx="201168" cy="201168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5349240" y="4005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Walled garden limits flexibility</a:t>
            </a:r>
            <a:endParaRPr lang="en-US" sz="1100" dirty="0"/>
          </a:p>
        </p:txBody>
      </p:sp>
      <p:sp>
        <p:nvSpPr>
          <p:cNvPr id="40" name="Text 24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cost-effective, these options lack the reliability, security, and integration support required for a mission-critical nonprofit site.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Mid-Tier Options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0" y="384048"/>
            <a:ext cx="228600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0" y="384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Bluehost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~$46/year (intro)  |  ~$108/year (renewal)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Officially recommended by WordPress.org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313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WordPress-specific support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176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633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support available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7180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29535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domain &amp; SSL included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91840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32735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hosting — performance ceiling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611880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3593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nonprofit discount program</a:t>
            </a:r>
            <a:endParaRPr lang="en-US" sz="11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931920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234440" y="3913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not fully managed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4754880" y="109728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15"/>
          <p:cNvSpPr/>
          <p:nvPr/>
        </p:nvSpPr>
        <p:spPr>
          <a:xfrm>
            <a:off x="50292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SiteGround</a:t>
            </a:r>
            <a:endParaRPr lang="en-US" sz="2000" dirty="0"/>
          </a:p>
        </p:txBody>
      </p:sp>
      <p:sp>
        <p:nvSpPr>
          <p:cNvPr id="25" name="Text 16"/>
          <p:cNvSpPr/>
          <p:nvPr/>
        </p:nvSpPr>
        <p:spPr>
          <a:xfrm>
            <a:off x="502920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~$36/year (intro)  |  ~$216/year (renewal)</a:t>
            </a:r>
            <a:endParaRPr lang="en-US" sz="11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011680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49240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infrastructure</a:t>
            </a:r>
            <a:endParaRPr lang="en-US" sz="11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2331720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349240" y="2313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managed WordPress features</a:t>
            </a:r>
            <a:endParaRPr lang="en-US" sz="11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2651760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349240" y="2633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expert support</a:t>
            </a:r>
            <a:endParaRPr lang="en-US" sz="11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2971800"/>
            <a:ext cx="201168" cy="201168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349240" y="29535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environments for testing</a:t>
            </a:r>
            <a:endParaRPr lang="en-US" sz="110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3291840"/>
            <a:ext cx="201168" cy="201168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5349240" y="32735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renewal price increase (6x)</a:t>
            </a:r>
            <a:endParaRPr lang="en-US" sz="1100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0" y="3611880"/>
            <a:ext cx="201168" cy="201168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5349240" y="3593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nonprofit discount program</a:t>
            </a:r>
            <a:endParaRPr lang="en-US" sz="1100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9200" y="3931920"/>
            <a:ext cx="201168" cy="201168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5349240" y="3913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10GB storage on starter plan</a:t>
            </a:r>
            <a:endParaRPr lang="en-US" sz="1100" dirty="0"/>
          </a:p>
        </p:txBody>
      </p:sp>
      <p:sp>
        <p:nvSpPr>
          <p:cNvPr id="40" name="Text 24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solid hosts, but neither offers nonprofit pricing. SiteGround’s renewal jump is a budget concern. Neither provides the fully managed security and performance of a premium host.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Managed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0" y="384048"/>
            <a:ext cx="210312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0" y="384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Kinsta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99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~$255/year with 15% nonprofit discount  |  Annual billing with 2 months free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24688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53288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17520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2999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Platform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64992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CDN (300+ locations)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12464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694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global data centers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059936"/>
            <a:ext cx="164592" cy="1645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0" y="4041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caching for speed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3383280" y="2286000"/>
            <a:ext cx="24688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3566160" y="242316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2532888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16052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Reliability</a:t>
            </a:r>
            <a:endParaRPr lang="en-US" sz="13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017520"/>
            <a:ext cx="164592" cy="16459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886200" y="2999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DDoS protection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1880" y="3364992"/>
            <a:ext cx="164592" cy="16459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886200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automatic backups</a:t>
            </a:r>
            <a:endParaRPr lang="en-US" sz="11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1880" y="3712464"/>
            <a:ext cx="164592" cy="16459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886200" y="3694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SSL certificates</a:t>
            </a:r>
            <a:endParaRPr lang="en-US" sz="11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1880" y="4059936"/>
            <a:ext cx="164592" cy="16459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886200" y="4041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Hack-fix guarantee</a:t>
            </a:r>
            <a:endParaRPr lang="en-US" sz="1100" dirty="0"/>
          </a:p>
        </p:txBody>
      </p:sp>
      <p:sp>
        <p:nvSpPr>
          <p:cNvPr id="33" name="Shape 21"/>
          <p:cNvSpPr/>
          <p:nvPr/>
        </p:nvSpPr>
        <p:spPr>
          <a:xfrm>
            <a:off x="6126480" y="2286000"/>
            <a:ext cx="24688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2"/>
          <p:cNvSpPr/>
          <p:nvPr/>
        </p:nvSpPr>
        <p:spPr>
          <a:xfrm>
            <a:off x="6309360" y="242316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088" y="2532888"/>
            <a:ext cx="237744" cy="237744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90372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3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5080" y="3017520"/>
            <a:ext cx="164592" cy="164592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6629400" y="2999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MyKinsta dashboard</a:t>
            </a:r>
            <a:endParaRPr lang="en-US" sz="1100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5080" y="3364992"/>
            <a:ext cx="164592" cy="164592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6629400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WP updates</a:t>
            </a:r>
            <a:endParaRPr lang="en-US" sz="1100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5080" y="3712464"/>
            <a:ext cx="164592" cy="164592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6629400" y="3694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environments</a:t>
            </a:r>
            <a:endParaRPr lang="en-US" sz="110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5080" y="4059936"/>
            <a:ext cx="164592" cy="164592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6629400" y="4041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expert WP support</a:t>
            </a:r>
            <a:endParaRPr lang="en-US" sz="1100" dirty="0"/>
          </a:p>
        </p:txBody>
      </p:sp>
      <p:sp>
        <p:nvSpPr>
          <p:cNvPr id="45" name="Text 28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Kinsta does not include email hosting — irrelevant for CBM since we already use Google Workspace for Nonprofits.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Alternative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0" y="384048"/>
            <a:ext cx="210312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0" y="384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CONSIDERED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1005840"/>
          </a:xfrm>
          <a:prstGeom prst="rect">
            <a:avLst/>
          </a:prstGeom>
          <a:solidFill>
            <a:srgbClr val="40BAC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WP Engine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~$180–$300/year with nonprofit discount  |  60-day money-back guarantee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24688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40BAC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53288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17520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2999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Platform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64992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CDN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12464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694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EverCache™ technology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059936"/>
            <a:ext cx="164592" cy="1645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0" y="4041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edge locations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3383280" y="2286000"/>
            <a:ext cx="24688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3566160" y="2423160"/>
            <a:ext cx="457200" cy="457200"/>
          </a:xfrm>
          <a:prstGeom prst="ellipse">
            <a:avLst/>
          </a:prstGeom>
          <a:solidFill>
            <a:srgbClr val="40BAC8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2532888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16052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3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017520"/>
            <a:ext cx="164592" cy="16459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886200" y="2999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firewall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1880" y="3364992"/>
            <a:ext cx="164592" cy="16459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886200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automatic backups</a:t>
            </a:r>
            <a:endParaRPr lang="en-US" sz="11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1880" y="3712464"/>
            <a:ext cx="164592" cy="16459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886200" y="3694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threat monitoring</a:t>
            </a:r>
            <a:endParaRPr lang="en-US" sz="11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1880" y="4059936"/>
            <a:ext cx="164592" cy="16459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886200" y="4041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WP updates</a:t>
            </a:r>
            <a:endParaRPr lang="en-US" sz="1100" dirty="0"/>
          </a:p>
        </p:txBody>
      </p:sp>
      <p:sp>
        <p:nvSpPr>
          <p:cNvPr id="33" name="Shape 21"/>
          <p:cNvSpPr/>
          <p:nvPr/>
        </p:nvSpPr>
        <p:spPr>
          <a:xfrm>
            <a:off x="6126480" y="2286000"/>
            <a:ext cx="24688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2"/>
          <p:cNvSpPr/>
          <p:nvPr/>
        </p:nvSpPr>
        <p:spPr>
          <a:xfrm>
            <a:off x="6309360" y="2423160"/>
            <a:ext cx="457200" cy="457200"/>
          </a:xfrm>
          <a:prstGeom prst="ellipse">
            <a:avLst/>
          </a:prstGeom>
          <a:solidFill>
            <a:srgbClr val="40BAC8"/>
          </a:solidFill>
          <a:ln/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088" y="2532888"/>
            <a:ext cx="237744" cy="237744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90372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13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5080" y="3017520"/>
            <a:ext cx="164592" cy="164592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6629400" y="2999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staging</a:t>
            </a:r>
            <a:endParaRPr lang="en-US" sz="1100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5080" y="3364992"/>
            <a:ext cx="164592" cy="164592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6629400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themes included</a:t>
            </a:r>
            <a:endParaRPr lang="en-US" sz="1100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5080" y="3712464"/>
            <a:ext cx="164592" cy="164592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6629400" y="3694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 (SSH, Git, WP-CLI)</a:t>
            </a:r>
            <a:endParaRPr lang="en-US" sz="110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5080" y="4059936"/>
            <a:ext cx="164592" cy="164592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6629400" y="4041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support (Growth+)</a:t>
            </a:r>
            <a:endParaRPr lang="en-US" sz="1100" dirty="0"/>
          </a:p>
        </p:txBody>
      </p:sp>
      <p:sp>
        <p:nvSpPr>
          <p:cNvPr id="45" name="Text 28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Engine is a strong platform, but visit-based overage charges ($2/1,000 visits), restricted plugin list, and less transparent nonprofit pricing make Kinsta the better fit for CBM.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Side-by-Side Comparison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8778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280160"/>
                <a:gridCol w="137160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DreamHost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Bluehost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SiteGround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A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$46–$108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$36–$216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~$180–$300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Nonprofit Discount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hosting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~40% (contact sales)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off all plans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Shared/Managed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Managed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Managed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 Flexibility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Restricted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Good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24/7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24/7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GrowBig+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plans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plans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Overage Charges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$2/1K visits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reflect intro → renewal range where applicable. Kinsta reflects 15% nonprofit discount. WP Engine reflects ~40% nonprofit discount (requires contacting sales). WordPress.com omitted for space — plugin restrictions disqualify it.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Kinsta Over WP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188720"/>
            <a:ext cx="502920" cy="502920"/>
          </a:xfrm>
          <a:prstGeom prst="ellipse">
            <a:avLst/>
          </a:prstGeom>
          <a:solidFill>
            <a:srgbClr val="0D737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31673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143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Mission-Critical Reliability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54480" y="1463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offer enterprise security. Kinsta’s hack-fix guarantee and Cloudflare enterprise DDoS protection mean our intake forms and public site stay protected.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0D737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27685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103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Nonprofit Pricing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5448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Kinsta’s 15% discount is clearly published and automatic. WP Engine’s ~40% nonprofit discount requires contacting sales — less predictable for budgeting. No overage charges with Kinsta.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2960" y="3108960"/>
            <a:ext cx="502920" cy="502920"/>
          </a:xfrm>
          <a:prstGeom prst="ellipse">
            <a:avLst/>
          </a:prstGeom>
          <a:solidFill>
            <a:srgbClr val="0D737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236976"/>
            <a:ext cx="246888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063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Plugin Flexibility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54480" y="3383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Engine restricts certain plugins for performance reasons. Kinsta allows all plugins — critical when we need specific form builders and CRM webhook connectors.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0D737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197096"/>
            <a:ext cx="246888" cy="2468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Simplicity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554480" y="4343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MyKinsta dashboard is purpose-built and intuitive. No maintenance burden on volunteer staff. Staging environments for safe testing of CRM and LMS integrations.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14300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0972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Kinsta as hosting provider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3990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with nonprofit discount. First month is free on the entry-level plan with a 30-day money-back guarantee.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8745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clevelandbusinessmentors.org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21762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domain through a registrar (e.g., Namecheap, Google Domains) and point DNS to Kinsta.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6517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Finalize CRM platform selection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9535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EspoCRM, HubSpot, Salesforce NPSP, and CiviCRM based on CBM’s operational needs and budget.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4290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WordPress site with form integrations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7307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WordPress, configure intake forms, connect to selected CRM via API/webhooks, and link to Moodle LMS.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42062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in staging before launch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5079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Kinsta’s built-in staging environment to validate all integrations end-to-end before going live.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09728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Kinsta — WordPress Hosting for Nonprofits</a:t>
            </a:r>
            <a:endParaRPr lang="en-US" sz="12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960120" y="128016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https://kinsta.com/wordpress-hosting/nonprofits/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Kinsta — Managed WordPress Hosting Pricing</a:t>
            </a:r>
            <a:endParaRPr lang="en-US" sz="1200" dirty="0"/>
          </a:p>
        </p:txBody>
      </p:sp>
      <p:sp>
        <p:nvSpPr>
          <p:cNvPr id="9" name="Text 7">
            <a:hlinkClick r:id="rId2" tooltip=""/>
          </p:cNvPr>
          <p:cNvSpPr/>
          <p:nvPr/>
        </p:nvSpPr>
        <p:spPr>
          <a:xfrm>
            <a:off x="960120" y="173736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https://kinsta.com/pricing/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WP Engine — Managed Hosting Plans</a:t>
            </a:r>
            <a:endParaRPr lang="en-US" sz="1200" dirty="0"/>
          </a:p>
        </p:txBody>
      </p:sp>
      <p:sp>
        <p:nvSpPr>
          <p:cNvPr id="12" name="Text 10">
            <a:hlinkClick r:id="rId3" tooltip=""/>
          </p:cNvPr>
          <p:cNvSpPr/>
          <p:nvPr/>
        </p:nvSpPr>
        <p:spPr>
          <a:xfrm>
            <a:off x="960120" y="219456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https://wpengine.com/plans/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46888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DreamHost — Non-profit Discount</a:t>
            </a:r>
            <a:endParaRPr lang="en-US" sz="1200" dirty="0"/>
          </a:p>
        </p:txBody>
      </p:sp>
      <p:sp>
        <p:nvSpPr>
          <p:cNvPr id="15" name="Text 13">
            <a:hlinkClick r:id="rId4" tooltip=""/>
          </p:cNvPr>
          <p:cNvSpPr/>
          <p:nvPr/>
        </p:nvSpPr>
        <p:spPr>
          <a:xfrm>
            <a:off x="960120" y="265176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https://help.dreamhost.com/hc/en-us/articles/215769478-Non-profit-discount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92608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SiteGround — Managed WordPress Hosting</a:t>
            </a:r>
            <a:endParaRPr lang="en-US" sz="1200" dirty="0"/>
          </a:p>
        </p:txBody>
      </p:sp>
      <p:sp>
        <p:nvSpPr>
          <p:cNvPr id="18" name="Text 16">
            <a:hlinkClick r:id="rId5" tooltip=""/>
          </p:cNvPr>
          <p:cNvSpPr/>
          <p:nvPr/>
        </p:nvSpPr>
        <p:spPr>
          <a:xfrm>
            <a:off x="960120" y="310896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https://www.siteground.com/wordpress-hosting.htm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38328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Reddit — Thinking About Moving to Kinsta</a:t>
            </a:r>
            <a:endParaRPr lang="en-US" sz="1200" dirty="0"/>
          </a:p>
        </p:txBody>
      </p:sp>
      <p:sp>
        <p:nvSpPr>
          <p:cNvPr id="21" name="Text 19">
            <a:hlinkClick r:id="rId6" tooltip=""/>
          </p:cNvPr>
          <p:cNvSpPr/>
          <p:nvPr/>
        </p:nvSpPr>
        <p:spPr>
          <a:xfrm>
            <a:off x="960120" y="356616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https://www.reddit.com/r/webhosting/comments/1ntktzx/thinking_about_moving_to_kinsta_whats_the/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84048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Nonprofit WP — Free Stuff for Nonprofit WordPress Websites</a:t>
            </a:r>
            <a:endParaRPr lang="en-US" sz="1200" dirty="0"/>
          </a:p>
        </p:txBody>
      </p:sp>
      <p:sp>
        <p:nvSpPr>
          <p:cNvPr id="24" name="Text 22">
            <a:hlinkClick r:id="rId7" tooltip=""/>
          </p:cNvPr>
          <p:cNvSpPr/>
          <p:nvPr/>
        </p:nvSpPr>
        <p:spPr>
          <a:xfrm>
            <a:off x="960120" y="402336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https://nonprofitwp.org/resources/free-stuff-for-nonprofit-wordpress-websites/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297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429768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WordPress.com — Claude Code Plugin for WordPress</a:t>
            </a:r>
            <a:endParaRPr lang="en-US" sz="1200" dirty="0"/>
          </a:p>
        </p:txBody>
      </p:sp>
      <p:sp>
        <p:nvSpPr>
          <p:cNvPr id="27" name="Text 25">
            <a:hlinkClick r:id="rId8" tooltip=""/>
          </p:cNvPr>
          <p:cNvSpPr/>
          <p:nvPr/>
        </p:nvSpPr>
        <p:spPr>
          <a:xfrm>
            <a:off x="960120" y="448056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https://developer.wordpress.com/wordpress-com-claude-code-plugin/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73152"/>
            <a:ext cx="2560320" cy="5070348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459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7160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0080" y="34747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99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Cleveland Business Mentors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99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Infrastructure Planning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WordPress Hosting Options - CBM Technology Infrastructure</dc:title>
  <dc:subject>PptxGenJS Presentation</dc:subject>
  <dc:creator>Cleveland Business Mentors</dc:creator>
  <cp:lastModifiedBy>Cleveland Business Mentors</cp:lastModifiedBy>
  <cp:revision>1</cp:revision>
  <dcterms:created xsi:type="dcterms:W3CDTF">2026-03-10T05:31:19Z</dcterms:created>
  <dcterms:modified xsi:type="dcterms:W3CDTF">2026-03-10T05:31:19Z</dcterms:modified>
</cp:coreProperties>
</file>